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64B4"/>
                </a:solidFill>
              </a:defRPr>
            </a:pPr>
            <a:r>
              <a:t>ND-500 CPU Instruction Set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Norsk Data ND-500 16-bit Opcode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241 unique instructions  |  1048 opcode variants  |  5 opcode ranges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4B4"/>
                </a:solidFill>
              </a:defRPr>
            </a:pPr>
            <a:r>
              <a:t>Opcode Range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103120" cy="1828800"/>
          </a:xfrm>
          <a:prstGeom prst="roundRect">
            <a:avLst/>
          </a:prstGeom>
          <a:solidFill>
            <a:srgbClr val="C8DC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/>
            </a:pPr>
            <a:r>
              <a:t>0x00xx</a:t>
            </a:r>
          </a:p>
          <a:p>
            <a:pPr algn="ctr">
              <a:defRPr sz="1400"/>
            </a:pPr>
            <a:r>
              <a:t>Base Instructions</a:t>
            </a:r>
          </a:p>
          <a:p>
            <a:pPr algn="ctr">
              <a:defRPr sz="1600" b="1"/>
            </a:pPr>
            <a:r>
              <a:t>227 opcodes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371600"/>
            <a:ext cx="2103120" cy="1828800"/>
          </a:xfrm>
          <a:prstGeom prst="roundRect">
            <a:avLst/>
          </a:prstGeom>
          <a:solidFill>
            <a:srgbClr val="C8FF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/>
            </a:pPr>
            <a:r>
              <a:t>0xFCxx</a:t>
            </a:r>
          </a:p>
          <a:p>
            <a:pPr algn="ctr">
              <a:defRPr sz="1400"/>
            </a:pPr>
            <a:r>
              <a:t>Extended Set 1</a:t>
            </a:r>
          </a:p>
          <a:p>
            <a:pPr algn="ctr">
              <a:defRPr sz="1600" b="1"/>
            </a:pPr>
            <a:r>
              <a:t>252 opcodes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2103120" cy="1828800"/>
          </a:xfrm>
          <a:prstGeom prst="roundRect">
            <a:avLst/>
          </a:prstGeom>
          <a:solidFill>
            <a:srgbClr val="FFE6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/>
            </a:pPr>
            <a:r>
              <a:t>0xFDxx</a:t>
            </a:r>
          </a:p>
          <a:p>
            <a:pPr algn="ctr">
              <a:defRPr sz="1400"/>
            </a:pPr>
            <a:r>
              <a:t>Extended Set 2</a:t>
            </a:r>
          </a:p>
          <a:p>
            <a:pPr algn="ctr">
              <a:defRPr sz="1600" b="1"/>
            </a:pPr>
            <a:r>
              <a:t>250 opcodes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2103120" cy="1828800"/>
          </a:xfrm>
          <a:prstGeom prst="roundRect">
            <a:avLst/>
          </a:prstGeom>
          <a:solidFill>
            <a:srgbClr val="FFC8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/>
            </a:pPr>
            <a:r>
              <a:t>0xFExx</a:t>
            </a:r>
          </a:p>
          <a:p>
            <a:pPr algn="ctr">
              <a:defRPr sz="1400"/>
            </a:pPr>
            <a:r>
              <a:t>Extended Set 3</a:t>
            </a:r>
          </a:p>
          <a:p>
            <a:pPr algn="ctr">
              <a:defRPr sz="1600" b="1"/>
            </a:pPr>
            <a:r>
              <a:t>188 opcodes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371600"/>
            <a:ext cx="2103120" cy="1828800"/>
          </a:xfrm>
          <a:prstGeom prst="roundRect">
            <a:avLst/>
          </a:prstGeom>
          <a:solidFill>
            <a:srgbClr val="C8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/>
            </a:pPr>
            <a:r>
              <a:t>0xFFxx</a:t>
            </a:r>
          </a:p>
          <a:p>
            <a:pPr algn="ctr">
              <a:defRPr sz="1400"/>
            </a:pPr>
            <a:r>
              <a:t>Extended Set 4</a:t>
            </a:r>
          </a:p>
          <a:p>
            <a:pPr algn="ctr">
              <a:defRPr sz="1600" b="1"/>
            </a:pPr>
            <a:r>
              <a:t>131 opcodes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4B4"/>
                </a:solidFill>
              </a:defRPr>
            </a:pPr>
            <a:r>
              <a:t>Category Legend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solidFill>
            <a:srgbClr val="C8DC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ARITHMETIC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097280"/>
            <a:ext cx="365760" cy="365760"/>
          </a:xfrm>
          <a:prstGeom prst="rect">
            <a:avLst/>
          </a:prstGeom>
          <a:solidFill>
            <a:srgbClr val="FFE6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1097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97280"/>
            <a:ext cx="365760" cy="365760"/>
          </a:xfrm>
          <a:prstGeom prst="rect">
            <a:avLst/>
          </a:prstGeom>
          <a:solidFill>
            <a:srgbClr val="C8FF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097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BRANCH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1097280"/>
            <a:ext cx="365760" cy="365760"/>
          </a:xfrm>
          <a:prstGeom prst="rect">
            <a:avLst/>
          </a:prstGeom>
          <a:solidFill>
            <a:srgbClr val="C8C8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097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COMPARISON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solidFill>
            <a:srgbClr val="FFC8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828800"/>
            <a:ext cx="365760" cy="365760"/>
          </a:xfrm>
          <a:prstGeom prst="rect">
            <a:avLst/>
          </a:prstGeom>
          <a:solidFill>
            <a:srgbClr val="E6E6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CONVERSION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828800"/>
            <a:ext cx="365760" cy="365760"/>
          </a:xfrm>
          <a:prstGeom prst="rect">
            <a:avLst/>
          </a:prstGeom>
          <a:solidFill>
            <a:srgbClr val="FFE6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LOGICAL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828800"/>
            <a:ext cx="365760" cy="365760"/>
          </a:xfrm>
          <a:prstGeom prst="rect">
            <a:avLst/>
          </a:prstGeom>
          <a:solidFill>
            <a:srgbClr val="FF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MEMORY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solidFill>
            <a:srgbClr val="FFFF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560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REGISTER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560320"/>
            <a:ext cx="365760" cy="365760"/>
          </a:xfrm>
          <a:prstGeom prst="rect">
            <a:avLst/>
          </a:prstGeom>
          <a:solidFill>
            <a:srgbClr val="E6C8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2560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STACK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560320"/>
            <a:ext cx="365760" cy="365760"/>
          </a:xfrm>
          <a:prstGeom prst="rect">
            <a:avLst/>
          </a:prstGeom>
          <a:solidFill>
            <a:srgbClr val="C8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560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0x00xx - Base Instructions — 227 opcodes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x0</a:t>
            </a:r>
          </a:p>
        </p:txBody>
      </p:sp>
      <p:sp>
        <p:nvSpPr>
          <p:cNvPr id="4" name="Rectangle 3"/>
          <p:cNvSpPr/>
          <p:nvPr/>
        </p:nvSpPr>
        <p:spPr>
          <a:xfrm>
            <a:off x="154533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x1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942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x2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351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6577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986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395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8621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030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9439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0256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9144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45336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9424" y="914400"/>
            <a:ext cx="704088" cy="365760"/>
          </a:xfrm>
          <a:prstGeom prst="rect">
            <a:avLst/>
          </a:prstGeom>
          <a:solidFill>
            <a:srgbClr val="FFC8E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3512" y="914400"/>
            <a:ext cx="704088" cy="365760"/>
          </a:xfrm>
          <a:prstGeom prst="rect">
            <a:avLst/>
          </a:prstGeom>
          <a:solidFill>
            <a:srgbClr val="FFC8E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noop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1688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6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9864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2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82128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86216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90304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94392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98480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02568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12801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45336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9424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61688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65776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9864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3952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8040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82128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86216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90304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94392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98480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02568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" y="16459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" y="16459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45336" y="16459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49424" y="16459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53512" y="16459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16459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61688" y="16459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65776" y="16459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9864" y="16459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73952" y="16459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78040" y="16459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82128" y="16459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86216" y="16459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90304" y="16459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94392" y="16459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98480" y="16459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02568" y="16459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0116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1248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45336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49424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53512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0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61688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65776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69864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73952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78040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82128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86216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90304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994392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698480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02568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7160" y="23774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1248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45336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test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49424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test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53512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test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0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test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61688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test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65776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test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769864" y="2377440"/>
            <a:ext cx="704088" cy="365760"/>
          </a:xfrm>
          <a:prstGeom prst="rect">
            <a:avLst/>
          </a:prstGeom>
          <a:solidFill>
            <a:srgbClr val="FFC8E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set1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73952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stz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178040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stz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82128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stz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86216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stz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290304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stz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994392" y="2377440"/>
            <a:ext cx="704088" cy="365760"/>
          </a:xfrm>
          <a:prstGeom prst="rect">
            <a:avLst/>
          </a:prstGeom>
          <a:solidFill>
            <a:srgbClr val="FFC8E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set1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698480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402568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7160" y="27432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5x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545336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decr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249424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swap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953512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add2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0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361688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65776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69864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73952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178040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882128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86216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290304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94392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98480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402568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37160" y="31089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41248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249424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953512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600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361688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065776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769864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473952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178040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882128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586216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290304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994392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698480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402568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37160" y="34747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7x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41248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545336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249424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953512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0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361688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065776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769864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73952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178040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882128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586216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290304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994392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698480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1402568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37160" y="38404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8x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41248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ret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545336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retk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249424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retd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953512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rett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657600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361688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x4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065776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x4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769864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x4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473952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178040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882128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586216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290304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994392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698480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1402568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clr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37160" y="42062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41248" y="42062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545336" y="42062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249424" y="42062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953512" y="42062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657600" y="42062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x2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361688" y="42062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065776" y="42062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x2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769864" y="42062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x2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473952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7178040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882128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586216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290304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entd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994392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ifkret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698480" y="42062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1402568" y="42062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37160" y="45720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Ax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841248" y="45720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545336" y="45720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249424" y="45720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953512" y="45720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657600" y="45720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361688" y="45720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065776" y="45720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769864" y="45720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473952" y="45720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78040" y="45720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882128" y="45720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8586216" y="45720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290304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994392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0698480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1402568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37160" y="49377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Bx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41248" y="49377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545336" y="49377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249424" y="49377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2953512" y="49377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657600" y="493776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jumpg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361688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callg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065776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5769864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473952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ents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178040" y="493776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jumps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882128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entsn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8586216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9290304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entt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9994392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entb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0698480" y="49377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x2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1402568" y="493776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37160" y="53035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Cx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41248" y="53035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545336" y="53035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249424" y="53035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953512" y="53035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call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657600" y="53035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if=go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4361688" y="53035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if=go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065776" y="53035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if&gt;&lt;go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769864" y="53035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if&gt;&lt;go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6473952" y="53035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if&gt;go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7178040" y="53035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if&gt;go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882128" y="53035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if&lt;go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8586216" y="53035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if&lt;go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290304" y="53035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if&gt;=go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9994392" y="53035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if&gt;=go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0698480" y="53035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if&lt;=go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1402568" y="53035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if&lt;=go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37160" y="56692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Dx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41248" y="56692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ifkgo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545336" y="56692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ifkgo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2249424" y="56692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if-kgo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2953512" y="56692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if-kgo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3657600" y="56692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if&gt;&gt;go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4361688" y="56692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if&gt;&gt;go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065776" y="56692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if&gt;&gt;=g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5769864" y="56692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if&gt;&gt;=g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473952" y="56692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if&lt;&lt;go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178040" y="56692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if&lt;&lt;go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7882128" y="56692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if&lt;&lt;=g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8586216" y="56692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if&lt;&lt;=g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9290304" y="5669280"/>
            <a:ext cx="704088" cy="365760"/>
          </a:xfrm>
          <a:prstGeom prst="rect">
            <a:avLst/>
          </a:prstGeom>
          <a:solidFill>
            <a:srgbClr val="FFC8E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init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994392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entf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10698480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entfn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1402568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entm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137160" y="60350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841248" y="60350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sub2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545336" y="603504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2249424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2953512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3657600" y="60350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4361688" y="60350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5065776" y="60350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5769864" y="60350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6473952" y="60350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7178040" y="60350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7882128" y="60350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8586216" y="60350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9290304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9994392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0698480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11402568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137160" y="64008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Fx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4124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1545336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249424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2953512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3657600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436168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5065776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5769864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6473952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7178040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788212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586216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9290304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994392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0698480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140256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0xFCxx - Extended Set 1 — 252 opcodes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x0</a:t>
            </a:r>
          </a:p>
        </p:txBody>
      </p:sp>
      <p:sp>
        <p:nvSpPr>
          <p:cNvPr id="4" name="Rectangle 3"/>
          <p:cNvSpPr/>
          <p:nvPr/>
        </p:nvSpPr>
        <p:spPr>
          <a:xfrm>
            <a:off x="154533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x1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942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x2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351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6577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986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395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8621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030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9439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0256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9144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45336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9424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3512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1688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6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9864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2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82128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86216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90304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94392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98480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02568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12801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45336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9424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61688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65776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9864" y="12801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add2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3952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8040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82128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86216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90304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94392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98480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02568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" y="16459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" y="16459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45336" y="16459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49424" y="16459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53512" y="16459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16459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61688" y="16459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65776" y="16459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9864" y="16459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73952" y="16459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78040" y="16459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82128" y="16459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86216" y="16459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90304" y="16459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94392" y="16459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98480" y="16459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02568" y="16459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0116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1248" y="20116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45336" y="20116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49424" y="20116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53512" y="20116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0" y="20116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61688" y="20116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65776" y="20116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69864" y="20116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73952" y="20116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78040" y="20116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82128" y="20116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86216" y="20116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+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90304" y="20116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994392" y="20116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698480" y="20116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02568" y="20116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7160" y="23774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1248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45336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49424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53512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-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0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61688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65776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769864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73952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178040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82128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86216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*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290304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994392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698480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402568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7160" y="27432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5x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545336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249424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953512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/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0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add2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361688" y="27432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65776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add2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69864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add2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73952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sub2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178040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sub2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882128" y="27432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86216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sub2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290304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sub2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94392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98480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402568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37160" y="31089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41248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249424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953512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600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361688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065776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769864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add3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473952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add3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178040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add3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882128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add3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586216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add3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290304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sub3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994392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sub3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698480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sub3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402568" y="31089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sub3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37160" y="34747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7x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41248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sub3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545336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249424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953512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0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361688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065776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769864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73952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178040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882128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div3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586216" y="34747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ifstgo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290304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994392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698480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1402568" y="34747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div4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37160" y="38404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8x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41248" y="38404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umul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545336" y="38404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umul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249424" y="38404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umul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953512" y="38404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umul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657600" y="38404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if-stg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361688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stz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065776" y="3840480"/>
            <a:ext cx="704088" cy="365760"/>
          </a:xfrm>
          <a:prstGeom prst="rect">
            <a:avLst/>
          </a:prstGeom>
          <a:solidFill>
            <a:srgbClr val="FFC8E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set1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769864" y="3840480"/>
            <a:ext cx="704088" cy="365760"/>
          </a:xfrm>
          <a:prstGeom prst="rect">
            <a:avLst/>
          </a:prstGeom>
          <a:solidFill>
            <a:srgbClr val="FFC8E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set1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473952" y="3840480"/>
            <a:ext cx="704088" cy="365760"/>
          </a:xfrm>
          <a:prstGeom prst="rect">
            <a:avLst/>
          </a:prstGeom>
          <a:solidFill>
            <a:srgbClr val="FFC8E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set1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178040" y="3840480"/>
            <a:ext cx="704088" cy="365760"/>
          </a:xfrm>
          <a:prstGeom prst="rect">
            <a:avLst/>
          </a:prstGeom>
          <a:solidFill>
            <a:srgbClr val="FFC8E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set1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882128" y="38404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586216" y="38404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290304" y="38404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decr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994392" y="38404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decr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698480" y="38404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decr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1402568" y="38404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decr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37160" y="42062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41248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545336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249424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953512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657600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361688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065776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769864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473952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7178040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882128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586216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290304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994392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698480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1402568" y="420624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37160" y="45720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Ax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841248" y="45720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545336" y="45720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249424" y="45720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953512" y="45720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657600" y="45720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361688" y="45720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065776" y="45720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769864" y="45720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473952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shl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78040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shl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882128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shl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8586216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sha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290304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sha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994392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sha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0698480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shr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1402568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shr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37160" y="49377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Bx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41248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shr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545336" y="49377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249424" y="49377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2953512" y="49377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657600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361688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065776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5769864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473952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178040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882128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8586216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9290304" y="49377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9994392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swap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0698480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swap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1402568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swap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37160" y="53035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Cx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41248" y="53035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545336" y="53035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249424" y="53035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953512" y="53035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657600" y="53035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4361688" y="53035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065776" y="53035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769864" y="53035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6473952" y="53035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7178040" y="53035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882128" y="53035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8586216" y="53035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290304" y="53035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9994392" y="53035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0698480" y="53035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1402568" y="530352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37160" y="56692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Dx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41248" y="56692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545336" y="56692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2249424" y="56692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2953512" y="56692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ixi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3657600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sqrt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4361688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sqrt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065776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sqrt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5769864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sqrt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473952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sqrt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178040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sqrt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7882128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sqrt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8586216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sqrt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9290304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swap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994392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swap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10698480" y="56692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1402568" y="56692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137160" y="60350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841248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poly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545336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poly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2249424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poly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2953512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poly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3657600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poly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4361688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poly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5065776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poly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5769864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poly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6473952" y="60350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7178040" y="60350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7882128" y="60350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8586216" y="60350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9290304" y="60350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9994392" y="60350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0698480" y="60350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11402568" y="60350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137160" y="64008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Fx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41248" y="64008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1545336" y="64008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249424" y="64008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2953512" y="64008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3657600" y="64008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4361688" y="64008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5065776" y="64008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5769864" y="64008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mulad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6473952" y="64008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7178040" y="64008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7882128" y="64008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586216" y="64008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9290304" y="64008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994392" y="64008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0698480" y="64008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1402568" y="64008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0xFDxx - Extended Set 2 — 250 opcodes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x0</a:t>
            </a:r>
          </a:p>
        </p:txBody>
      </p:sp>
      <p:sp>
        <p:nvSpPr>
          <p:cNvPr id="4" name="Rectangle 3"/>
          <p:cNvSpPr/>
          <p:nvPr/>
        </p:nvSpPr>
        <p:spPr>
          <a:xfrm>
            <a:off x="154533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x1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942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x2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351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6577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986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395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8621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030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9439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0256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9144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45336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9424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3512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1688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6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9864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2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82128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86216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90304" y="9144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94392" y="9144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98480" y="9144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02568" y="9144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12801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45336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9424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61688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65776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9864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3952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8040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82128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86216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cind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90304" y="128016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94392" y="128016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98480" y="128016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02568" y="128016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" y="16459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" y="16459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45336" y="16459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49424" y="16459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53512" y="16459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16459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61688" y="16459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65776" y="16459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9864" y="16459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73952" y="16459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78040" y="16459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82128" y="16459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86216" y="16459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90304" y="16459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94392" y="16459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98480" y="16459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02568" y="164592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0116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1248" y="20116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45336" y="20116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49424" y="20116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53512" y="20116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0" y="20116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61688" y="20116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65776" y="201168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loop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69864" y="201168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73952" y="201168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78040" y="2011680"/>
            <a:ext cx="704088" cy="365760"/>
          </a:xfrm>
          <a:prstGeom prst="rect">
            <a:avLst/>
          </a:prstGeom>
          <a:solidFill>
            <a:srgbClr val="FFC8E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sete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82128" y="2011680"/>
            <a:ext cx="704088" cy="365760"/>
          </a:xfrm>
          <a:prstGeom prst="rect">
            <a:avLst/>
          </a:prstGeom>
          <a:solidFill>
            <a:srgbClr val="FFC8E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clte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86216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90304" y="201168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994392" y="201168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698480" y="201168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02568" y="201168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7160" y="23774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1248" y="2377440"/>
            <a:ext cx="704088" cy="365760"/>
          </a:xfrm>
          <a:prstGeom prst="rect">
            <a:avLst/>
          </a:prstGeom>
          <a:solidFill>
            <a:srgbClr val="FFC8E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tset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45336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49424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53512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0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byconv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61688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hconv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65776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769864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fconv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73952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178040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biconv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82128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hconv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86216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290304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fconv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994392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698480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biconv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402568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byconv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7160" y="27432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5x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545336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fconv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249424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953512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biconv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0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byconv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361688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hconv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65776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fconv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69864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73952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biconv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178040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byconv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882128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hconv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86216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290304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94392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biconv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98480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byconv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402568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hconv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37160" y="31089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41248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fconv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249424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953512" y="31089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600" y="310896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ifstgo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361688" y="3108960"/>
            <a:ext cx="704088" cy="365760"/>
          </a:xfrm>
          <a:prstGeom prst="rect">
            <a:avLst/>
          </a:prstGeom>
          <a:solidFill>
            <a:srgbClr val="C8FF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if-stg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065776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769864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473952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178040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882128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586216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290304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chain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994392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chain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698480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chain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402568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chain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37160" y="34747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7x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41248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mte1=: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545336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mte2=: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249424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smvwh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953512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smvun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0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smvtr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361688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smvtu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065776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smovn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769864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smovn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73952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smovn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178040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smovn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882128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smovn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586216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smovn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290304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994392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698480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1402568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37160" y="38404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8x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41248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545336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249424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953512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657600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361688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065776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769864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473952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178040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882128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586216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290304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994392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698480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1402568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37160" y="42062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41248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545336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249424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953512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657600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361688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065776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769864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473952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7178040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882128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586216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290304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994392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698480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1402568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37160" y="45720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Ax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841248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545336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249424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953512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657600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361688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065776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769864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473952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78040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882128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8586216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sfilln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290304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994392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scotr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0698480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sskip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1402568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sloca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37160" y="49377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Bx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41248" y="49377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sloca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545336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sscan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249424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sspan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2953512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smatch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657600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sspar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361688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schpar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065776" y="49377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freeb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5769864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hl:=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473952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ll:=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178040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st1:=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882128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cad:=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8586216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ote1:=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9290304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ote2:=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9994392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tos:=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0698480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scopa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1402568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scopt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37160" y="53035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Cx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41248" y="53035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545336" y="53035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hl=: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249424" y="53035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ll=: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953512" y="53035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st1=: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657600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4361688" y="53035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ote1=: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065776" y="53035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ote2=: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769864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6473952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7178040" y="53035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tos=: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882128" y="53035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tha:=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8586216" y="53035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tha=: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290304" y="530352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9994392" y="530352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0698480" y="530352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1402568" y="530352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and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37160" y="56692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Dx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41248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545336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2249424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2953512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3657600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4361688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065776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5769864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473952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178040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7882128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8586216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9290304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994392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10698480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1402568" y="56692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137160" y="60350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841248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545336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2249424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2953512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3657600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4361688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5065776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5769864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6473952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7178040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7882128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8586216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9290304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9994392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0698480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11402568" y="60350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137160" y="64008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Fx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41248" y="64008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1545336" y="64008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249424" y="64008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2953512" y="64008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3657600" y="64008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4361688" y="64008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5065776" y="64008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5769864" y="64008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putbf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6473952" y="64008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7178040" y="64008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7882128" y="64008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586216" y="64008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9290304" y="64008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994392" y="64008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0698480" y="64008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1402568" y="640080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xor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0xFExx - Extended Set 3 — 188 opcodes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x0</a:t>
            </a:r>
          </a:p>
        </p:txBody>
      </p:sp>
      <p:sp>
        <p:nvSpPr>
          <p:cNvPr id="4" name="Rectangle 3"/>
          <p:cNvSpPr/>
          <p:nvPr/>
        </p:nvSpPr>
        <p:spPr>
          <a:xfrm>
            <a:off x="154533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x1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942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x2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351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6577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986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395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8621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030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9439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0256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9144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914400"/>
            <a:ext cx="704088" cy="365760"/>
          </a:xfrm>
          <a:prstGeom prst="rect">
            <a:avLst/>
          </a:prstGeom>
          <a:solidFill>
            <a:srgbClr val="FFC8E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solo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45336" y="9144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tutti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9424" y="914400"/>
            <a:ext cx="704088" cy="365760"/>
          </a:xfrm>
          <a:prstGeom prst="rect">
            <a:avLst/>
          </a:prstGeom>
          <a:solidFill>
            <a:srgbClr val="FFC8E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setk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3512" y="9144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clrk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1688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6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9864" y="9144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2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82128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86216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90304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94392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98480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02568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neg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12801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" y="128016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45336" y="128016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9424" y="128016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28016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128016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61688" y="128016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65776" y="128016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9864" y="128016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3952" y="128016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8040" y="128016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82128" y="128016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86216" y="128016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90304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retb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94392" y="12801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retbk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98480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ddirt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02568" y="12801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" y="16459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" y="16459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45336" y="16459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49424" y="16459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53512" y="16459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16459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61688" y="16459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65776" y="16459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9864" y="16459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73952" y="16459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78040" y="16459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82128" y="16459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86216" y="16459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90304" y="16459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94392" y="16459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98480" y="16459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02568" y="16459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0116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1248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a1:=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45336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a2:=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49424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a3:=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53512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a4:=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0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e1:=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61688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e2:=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65776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e3:=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69864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e4:=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73952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a1=: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78040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a2=: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82128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a3=: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86216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a4=: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90304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e1=: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994392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e2=: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698480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e3=: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02568" y="20116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e4=: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7160" y="23774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1248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addc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45336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addc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49424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addc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53512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addc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0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subc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61688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subc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65776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subc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769864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subc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73952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udiv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178040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udiv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82128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udiv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86216" y="23774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udiv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290304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994392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698480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402568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getb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7160" y="27432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5x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cte1=: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545336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cte2=: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249424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temm1=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953512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temm2=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0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ced=: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361688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cad=: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65776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69864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73952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rem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178040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rem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882128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rem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86216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rem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290304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rem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94392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rem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98480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rem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402568" y="27432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rem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37160" y="31089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41248" y="31089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31089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249424" y="31089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953512" y="31089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600" y="31089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361688" y="31089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065776" y="31089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769864" y="31089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473952" y="31089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178040" y="31089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882128" y="31089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586216" y="31089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290304" y="31089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994392" y="31089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698480" y="31089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402568" y="31089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intr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37160" y="34747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7x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41248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byconr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545336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byconr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249424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hconr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953512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hconr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0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wconr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361688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wconr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065776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riom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769864" y="34747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73952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178040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882128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586216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bmove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290304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ps=: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994392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clebi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698480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clebi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1402568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clebi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37160" y="38404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8x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41248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545336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249424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setbi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953512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fconr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657600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fconr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361688" y="38404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paddr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065776" y="384048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psubr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769864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pshift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473952" y="384048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178040" y="384048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882128" y="384048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586216" y="384048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290304" y="384048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994392" y="384048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698480" y="384048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1402568" y="384048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37160" y="42062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41248" y="420624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zpgu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545336" y="42062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pmpyr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249424" y="42062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ppackr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953512" y="420624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pupack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657600" y="420624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361688" y="420624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065776" y="420624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769864" y="420624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473952" y="420624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7178040" y="420624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882128" y="420624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586216" y="420624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290304" y="420624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zwip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994392" y="42062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698480" y="42062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1402568" y="42062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37160" y="45720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Ax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841248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545336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249424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953512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657600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361688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065776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769864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473952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78040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882128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8586216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290304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994392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0698480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1402568" y="45720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37160" y="49377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Bx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41248" y="49377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padd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545336" y="49377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psub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249424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pshift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2953512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pcomp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657600" y="49377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pmpy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361688" y="49377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ppack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065776" y="493776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pupack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5769864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473952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wpconv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178040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wpconv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882128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wpconv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8586216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wpconv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9290304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pwconv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9994392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pwconv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0698480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pwconv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1402568" y="49377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pwconv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37160" y="53035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Cx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41248" y="53035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545336" y="53035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249424" y="53035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953512" y="530352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657600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4361688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065776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769864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6473952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7178040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882128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8586216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290304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9994392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0698480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1402568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37160" y="56692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Dx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41248" y="566928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x2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545336" y="566928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x2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2249424" y="566928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x2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2953512" y="566928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wdus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x2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3657600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4361688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065776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5769864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473952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178040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7882128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8586216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9290304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994392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10698480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1402568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137160" y="60350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841248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545336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2249424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2953512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3657600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4361688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5065776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5769864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6473952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7178040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7882128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8586216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9290304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9994392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0698480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11402568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137160" y="64008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Fx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4124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1545336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249424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2953512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3657600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436168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5065776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5769864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6473952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7178040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788212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586216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9290304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994392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0698480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140256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0xFFxx - Extended Set 4 — 131 opcodes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x0</a:t>
            </a:r>
          </a:p>
        </p:txBody>
      </p:sp>
      <p:sp>
        <p:nvSpPr>
          <p:cNvPr id="4" name="Rectangle 3"/>
          <p:cNvSpPr/>
          <p:nvPr/>
        </p:nvSpPr>
        <p:spPr>
          <a:xfrm>
            <a:off x="154533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x1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942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x2</a:t>
            </a:r>
          </a:p>
        </p:txBody>
      </p:sp>
      <p:sp>
        <p:nvSpPr>
          <p:cNvPr id="6" name="Rectangle 5"/>
          <p:cNvSpPr/>
          <p:nvPr/>
        </p:nvSpPr>
        <p:spPr>
          <a:xfrm>
            <a:off x="295351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6577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986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395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86216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0304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94392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0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02568" y="5486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xF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9144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45336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9424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3512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1688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6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9864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2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82128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86216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90304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94392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98480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02568" y="914400"/>
            <a:ext cx="704088" cy="365760"/>
          </a:xfrm>
          <a:prstGeom prst="rect">
            <a:avLst/>
          </a:prstGeom>
          <a:solidFill>
            <a:srgbClr val="C8DC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abs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12801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" y="128016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45336" y="128016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9424" y="128016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280160"/>
            <a:ext cx="704088" cy="365760"/>
          </a:xfrm>
          <a:prstGeom prst="rect">
            <a:avLst/>
          </a:prstGeom>
          <a:solidFill>
            <a:srgbClr val="FFE6C8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invc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pcc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61688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dcc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65776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dmon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9864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pmon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3952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dmof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8040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pmof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82128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cpgu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86216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cwip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90304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pctsb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94392" y="128016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dctsb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98480" y="12801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02568" y="12801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" y="16459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45336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49424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53512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61688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65776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9864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73952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78040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82128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86216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90304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94392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98480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02568" y="16459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0116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1248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45336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49424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53512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0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61688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65776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69864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73952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78040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82128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86216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90304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994392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698480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02568" y="20116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7160" y="23774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1248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545336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49424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53512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0" y="23774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ps:=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61688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65776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769864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73952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178040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82128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86216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290304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994392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698480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402568" y="23774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7160" y="27432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5x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545336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249424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953512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0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361688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65776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69864" y="27432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73952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178040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882128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86216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290304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994392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98480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402568" y="27432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37160" y="31089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41248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249424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953512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600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361688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065776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769864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473952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178040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882128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586216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290304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994392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698480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402568" y="310896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37160" y="34747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7x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41248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atan2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545336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atan2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249424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atan2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953512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atan2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0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exp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361688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exp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065776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exp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769864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exp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73952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178040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882128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586216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290304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994392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698480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1402568" y="347472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37160" y="38404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8x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841248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alog10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545336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alog10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249424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alog10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953512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alog10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657600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361688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065776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769864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473952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178040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882128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586216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asin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290304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994392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698480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1402568" y="384048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37160" y="42062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41248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545336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249424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953512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acos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657600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361688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065776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769864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473952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7178040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882128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586216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atan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290304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atan2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994392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atan2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698480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atan2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1402568" y="420624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atan2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37160" y="45720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Ax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841248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exp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545336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exp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2249424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exp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953512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exp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3657600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361688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065776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769864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473952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78040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882128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8586216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alog2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290304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alog10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994392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alog10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0698480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alog10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1402568" y="45720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alog10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37160" y="493776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Bx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841248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545336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249424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2953512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657600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361688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065776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5769864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473952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178040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882128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8586216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9290304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9994392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0698480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1402568" y="493776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37160" y="530352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Cx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41248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545336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249424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953512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657600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4361688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065776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769864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6473952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7178040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882128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8586216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290304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9994392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0698480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1402568" y="530352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37160" y="566928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Dx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41248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545336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2249424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2953512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3657600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4361688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065776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5769864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473952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178040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7882128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8586216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9290304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994392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10698480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1402568" y="566928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137160" y="603504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841248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545336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2249424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2953512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3657600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4361688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5065776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5769864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6473952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7178040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7882128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8586216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9290304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9994392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0698480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11402568" y="603504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137160" y="6400800"/>
            <a:ext cx="704088" cy="365760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Fx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41248" y="64008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phylad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1545336" y="64008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phylad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249424" y="64008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phylad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2953512" y="64008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phylad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3657600" y="64008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wphs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4361688" y="64008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rphs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5065776" y="64008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lregbl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5769864" y="64008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sregbl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6473952" y="64008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lcntxt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7178040" y="64008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scntxt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788212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586216" y="6400800"/>
            <a:ext cx="704088" cy="365760"/>
          </a:xfrm>
          <a:prstGeom prst="rect">
            <a:avLst/>
          </a:prstGeom>
          <a:solidFill>
            <a:srgbClr val="C8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svers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9290304" y="6400800"/>
            <a:ext cx="704088" cy="365760"/>
          </a:xfrm>
          <a:prstGeom prst="rect">
            <a:avLst/>
          </a:prstGeom>
          <a:solidFill>
            <a:srgbClr val="F0F0F0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/>
            </a:pPr>
            <a:r>
              <a:t>scpuno</a:t>
            </a:r>
          </a:p>
          <a:p>
            <a:pPr algn="ctr">
              <a:spcBef>
                <a:spcPts val="0"/>
              </a:spcBef>
              <a:defRPr sz="600">
                <a:solidFill>
                  <a:srgbClr val="505050"/>
                </a:solidFill>
              </a:defRPr>
            </a:pPr>
            <a:r>
              <a:t>x1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994392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0698480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1402568" y="6400800"/>
            <a:ext cx="704088" cy="365760"/>
          </a:xfrm>
          <a:prstGeom prst="rect">
            <a:avLst/>
          </a:prstGeom>
          <a:solidFill>
            <a:srgbClr val="282832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05050"/>
                </a:solidFill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Instruction Reference (1/9)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Mnemonic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48640"/>
            <a:ext cx="27432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"/>
            <a:ext cx="18288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548640"/>
            <a:ext cx="9144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*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749808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Multiply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49808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950976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Add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950976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950976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52144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-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152144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Subtract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152144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52144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353312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353312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Divide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53312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53312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55448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:=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155448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AssignTo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55448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75564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=: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175564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AssignFrom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75564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75564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95681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a1:=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195681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A1Set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95681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95681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15798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a1=: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15798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A1Get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15798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5798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35915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a2:=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235915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A2Set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35915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35915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56032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a2=: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256032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A2Get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256032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56032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76148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a3:=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276148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A3Set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76148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76148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96265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a3=: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296265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A3Get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96265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96265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16382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a4:=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16382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A4Set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16382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16382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6499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a4=: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336499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A4Get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336499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36499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566160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abs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3566160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Abs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3566160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566160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6732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acos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376732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Acos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376732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76732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3968496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add2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3968496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Add2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3968496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3968496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169664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add3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169664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Add3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4169664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169664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370832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addc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370832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Addc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4370832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4370832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57200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alog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0" y="457200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Alog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0" y="457200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457200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77316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alog10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477316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Alog10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477316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77316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97433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alog2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0" y="497433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Alog2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0" y="497433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97433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175504"/>
            <a:ext cx="13716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and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5175504"/>
            <a:ext cx="27432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And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0" y="5175504"/>
            <a:ext cx="18288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LOGICAL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0" y="5175504"/>
            <a:ext cx="9144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16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37667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asin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0" y="537667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Asin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537667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537667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57784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atan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0" y="557784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Atan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0" y="557784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0800" y="557784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77900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atan2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28800" y="577900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Atan2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0" y="577900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577900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5980176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axi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0" y="5980176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Axi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0" y="5980176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0" y="5980176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618134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b:=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0" y="618134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AssignBaseRegTo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0" y="618134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618134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638251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b=: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28800" y="638251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AssignToBaseReg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0" y="638251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0" y="638251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658368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biconv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28800" y="658368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Biconv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0" y="658368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0" y="658368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Instruction Reference (2/9)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Mnemonic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48640"/>
            <a:ext cx="27432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"/>
            <a:ext cx="18288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548640"/>
            <a:ext cx="9144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bladdr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749808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Bladdr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49808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bmove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95097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Bmove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95097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95097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52144"/>
            <a:ext cx="13716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152144"/>
            <a:ext cx="27432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152144"/>
            <a:ext cx="18288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CONTROL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52144"/>
            <a:ext cx="9144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35331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byconr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35331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Byconr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5331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5331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55448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byconv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155448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Byconv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55448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75564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cad:=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175564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CadSet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75564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75564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95681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cad=: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195681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CadGet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95681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95681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15798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15798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15798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5798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35915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235915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35915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35915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56032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ced=: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256032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CedGet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256032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56032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76148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chain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276148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Chain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76148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76148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962656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cind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2962656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Cind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962656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962656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16382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clebi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16382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Clebi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16382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BITFIELD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16382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6499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clr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336499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Clr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336499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36499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56616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clrk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356616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Clrk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356616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56616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67328"/>
            <a:ext cx="13716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clte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3767328"/>
            <a:ext cx="27432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Clte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3767328"/>
            <a:ext cx="18288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CONTROL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767328"/>
            <a:ext cx="9144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396849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comp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396849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Comp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396849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COMPARE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396849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16966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comp2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16966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Comp2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416966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COMPARE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16966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37083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37083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437083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437083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572000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cpgu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0" y="4572000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Cpgu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0" y="4572000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4572000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77316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cte1=: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477316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Cte1Get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477316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77316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97433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cte2=: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0" y="497433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Cte2Get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0" y="497433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97433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175504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cwip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5175504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Cwip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0" y="5175504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0" y="5175504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376672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dcc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0" y="5376672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Dcc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5376672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5376672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57784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dconv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0" y="557784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Dconv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0" y="557784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0800" y="557784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779008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dctsb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28800" y="5779008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Dctsb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0" y="5779008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5779008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5980176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ddirt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0" y="5980176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Ddirt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0" y="5980176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0" y="5980176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6181344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decr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0" y="6181344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Decr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0" y="6181344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6181344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6382512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div2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28800" y="6382512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Div2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0" y="6382512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0" y="6382512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6583680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div3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28800" y="6583680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Div3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0" y="6583680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0" y="6583680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Instruction Reference (3/9)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Mnemonic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48640"/>
            <a:ext cx="27432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"/>
            <a:ext cx="18288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548640"/>
            <a:ext cx="9144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div4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749808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Div4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49808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dmof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950976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Dmof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950976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950976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52144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dmon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152144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Dmon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152144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52144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35331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e1:=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35331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E1Set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5331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5331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55448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e1=: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155448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E1Get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55448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75564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e2:=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175564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E2Set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75564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75564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95681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e2=: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195681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E2Get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95681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95681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15798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e3:=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15798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E3Set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15798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5798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35915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e3=: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235915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E3Get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35915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35915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56032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e4:=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256032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E4Set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256032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56032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76148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e4=: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276148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E4Get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76148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76148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96265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entb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296265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Entb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96265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96265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16382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entd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16382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Entd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16382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16382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6499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entf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336499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Entf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336499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36499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56616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entfn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356616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Entfn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356616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56616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6732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entm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376732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Entm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376732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76732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396849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ents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396849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Ents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396849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396849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16966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entsn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16966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Entsn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416966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16966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37083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entt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37083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Entt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437083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437083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57200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exp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0" y="457200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Exp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0" y="457200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457200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77316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fconr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477316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Fconr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477316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77316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97433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fconv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0" y="497433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Fconv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0" y="497433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97433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175504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freeb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5175504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Freeb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0" y="5175504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0" y="5175504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37667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getb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0" y="537667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Getb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537667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BITFIELD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537667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57784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getbf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0" y="557784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Getbf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0" y="557784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BITFIELD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0800" y="557784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77900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getbi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28800" y="577900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Getbi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0" y="577900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BITFIELD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577900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5980176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go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0" y="5980176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Go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0" y="5980176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0" y="5980176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618134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hconr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0" y="618134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Hconr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0" y="618134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618134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638251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hconv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28800" y="638251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Hconv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0" y="638251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0" y="638251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658368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hl:=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28800" y="658368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HlSet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0" y="658368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0" y="658368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Instruction Reference (4/9)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Mnemonic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48640"/>
            <a:ext cx="27432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"/>
            <a:ext cx="18288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548640"/>
            <a:ext cx="9144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hl=: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74980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HlGet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4980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if-kgo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950976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IfKeyGo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950976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950976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52144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if-stgo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152144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IfStackGo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152144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52144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353312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if&lt;&lt;=go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353312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IfUnsignedLessEqualGo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53312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53312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554480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if&lt;&lt;go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1554480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IfUnsignedLessGo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554480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755648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if&lt;=go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1755648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IfLessEqualGo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755648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755648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956816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if&lt;go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1956816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IfLessThanGo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956816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956816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157984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if=go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157984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IfEqualGo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157984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57984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359152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if&gt;&lt;go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2359152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IfNotEqualGo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359152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359152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560320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if&gt;=go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2560320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IfGreaterEqualGo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2560320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560320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761488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if&gt;&gt;=go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2761488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IfUnsignedGreaterEqualGo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761488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761488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962656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if&gt;&gt;go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2962656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IfUnsignedGreaterGo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962656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962656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163824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if&gt;go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163824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IfGreaterThanGo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163824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163824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64992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ifkgo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3364992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Ifkgo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3364992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364992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56616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ifkret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356616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Ifkret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356616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56616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67328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ifstgo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3767328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Ifstgo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3767328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767328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3968496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incr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3968496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Incr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3968496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3968496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169664"/>
            <a:ext cx="13716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init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169664"/>
            <a:ext cx="27432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Init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4169664"/>
            <a:ext cx="18288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CONTROL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169664"/>
            <a:ext cx="9144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370832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370832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4370832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4370832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572000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intr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0" y="4572000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Intr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0" y="4572000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4572000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773168"/>
            <a:ext cx="13716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inv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4773168"/>
            <a:ext cx="27432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Inv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4773168"/>
            <a:ext cx="18288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LOGICAL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773168"/>
            <a:ext cx="9144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974336"/>
            <a:ext cx="13716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invc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0" y="4974336"/>
            <a:ext cx="27432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Invc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0" y="4974336"/>
            <a:ext cx="18288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LOGICAL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974336"/>
            <a:ext cx="9144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175504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ixi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5175504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Ixi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0" y="5175504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0" y="5175504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376672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jumpg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0" y="5376672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Jumpg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5376672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5376672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577840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jumps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0" y="5577840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Jumps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0" y="5577840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0800" y="5577840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77900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l:=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28800" y="577900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LSet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0" y="577900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577900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598017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l=: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0" y="598017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LGet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0" y="598017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0" y="598017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6181344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laddr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0" y="6181344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Laddr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0" y="6181344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6181344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24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6382512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lcntxt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28800" y="6382512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Lcntxt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0" y="6382512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0" y="6382512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6583680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lind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28800" y="6583680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Lind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0" y="6583680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0" y="6583680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Instruction Reference (5/9)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Mnemonic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48640"/>
            <a:ext cx="27432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"/>
            <a:ext cx="18288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548640"/>
            <a:ext cx="9144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ll:=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74980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LlSet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4980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ll=: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95097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LlGet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95097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95097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52144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loop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152144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Loop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152144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52144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353312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loopd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353312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Loopd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53312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53312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554480"/>
            <a:ext cx="13716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loopi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1554480"/>
            <a:ext cx="27432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Loopi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554480"/>
            <a:ext cx="18288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BRANCH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914400" cy="201168"/>
          </a:xfrm>
          <a:prstGeom prst="rect">
            <a:avLst/>
          </a:prstGeom>
          <a:solidFill>
            <a:srgbClr val="C8FF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755648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lregbl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1755648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Lregbl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755648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755648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95681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195681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95681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95681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15798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mte1=: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15798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Mte1Get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15798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5798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35915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mte2=: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235915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Mte2Get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35915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35915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560320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mul2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2560320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Mul2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2560320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560320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761488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mul3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2761488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Mul3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761488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761488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962656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mul4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2962656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Mul4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962656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962656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163824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mulad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163824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Mulad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163824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163824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64992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neg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3364992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Neg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3364992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364992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566160"/>
            <a:ext cx="13716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noop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3566160"/>
            <a:ext cx="27432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Noop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3566160"/>
            <a:ext cx="18288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CONTROL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566160"/>
            <a:ext cx="9144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67328"/>
            <a:ext cx="13716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or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3767328"/>
            <a:ext cx="27432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Or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3767328"/>
            <a:ext cx="18288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LOGICAL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767328"/>
            <a:ext cx="9144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396849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ote1:=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396849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Ote1Set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396849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396849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16966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ote1=: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16966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Ote1Get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416966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16966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37083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ote2:=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37083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Ote2Set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437083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437083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57200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ote2=: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0" y="457200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Ote2Get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0" y="457200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457200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77316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p=: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477316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PGet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477316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77316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974336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padd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0" y="4974336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Padd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0" y="4974336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974336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175504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paddr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5175504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Paddr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0" y="5175504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0" y="5175504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376672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pcc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0" y="5376672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Pcc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5376672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5376672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57784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pcomp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0" y="557784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Pcomp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0" y="557784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COMPARE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0800" y="557784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779008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pctsb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28800" y="5779008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Pctsb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0" y="5779008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5779008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5980176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phyladr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0" y="5980176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Phyladr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0" y="5980176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0" y="5980176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4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6181344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pmof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0" y="6181344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Pmof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0" y="6181344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6181344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6382512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pmon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28800" y="6382512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Pmon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0" y="6382512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0" y="6382512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6583680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pmpy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28800" y="6583680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Pmpy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0" y="6583680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0" y="6583680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Instruction Reference (6/9)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Mnemonic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48640"/>
            <a:ext cx="27432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"/>
            <a:ext cx="18288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548640"/>
            <a:ext cx="9144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pmpyr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749808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Pmpyr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49808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poly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95097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Poly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95097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95097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52144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ppack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152144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Ppack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152144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52144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353312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ppackr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353312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Ppackr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53312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53312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55448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ps:=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155448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PsSet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55448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75564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ps=: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175564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PsGet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75564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75564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95681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pshift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195681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Pshift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95681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SHIFT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95681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15798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pshiftr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15798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Pshiftr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15798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SHIFT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5798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359152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psub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2359152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Psub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359152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359152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560320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psubr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2560320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Psubr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2560320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560320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761488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psum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2761488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Psum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761488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761488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962656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pupack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2962656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Pupack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962656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962656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163824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pupackr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163824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Pupackr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163824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163824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6499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putbf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336499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Putbf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336499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BITFIELD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36499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56616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putbi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356616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Putbi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356616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BITFIELD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56616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6732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pwconv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376732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Pwconv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376732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76732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396849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r:=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396849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AssignRecordRegTo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396849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396849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16966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r=: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16966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AssignToRecordReg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416966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16966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370832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rdus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370832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Rdus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4370832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4370832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572000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rem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0" y="4572000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Rem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0" y="4572000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4572000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77316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ret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477316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Ret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477316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77316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97433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retb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0" y="497433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Retb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0" y="497433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97433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17550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retbk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517550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Retbk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0" y="517550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0" y="517550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37667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retd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0" y="537667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Retd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537667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537667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57784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retk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0" y="557784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Retk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0" y="557784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0800" y="557784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77900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rett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28800" y="577900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Rett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0" y="577900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CALL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577900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598017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riom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0" y="598017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Riom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0" y="598017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IO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0" y="598017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6181344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rladdr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0" y="6181344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Rladdr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0" y="6181344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6181344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6382512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rpgu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28800" y="6382512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Rpgu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0" y="6382512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0" y="6382512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6583680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rphs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28800" y="6583680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Rphs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0" y="6583680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0" y="6583680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Instruction Reference (7/9)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Mnemonic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48640"/>
            <a:ext cx="27432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"/>
            <a:ext cx="18288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548640"/>
            <a:ext cx="9144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rwip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749808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Rwip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49808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schpar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95097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Schpar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95097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95097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52144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scntxt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152144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Scntxt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152144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52144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35331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scomp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35331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Scomp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5331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COMPARE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5331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55448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scopa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155448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Scopa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55448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75564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scopt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175564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Scopt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75564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75564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95681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scotr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195681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Scotr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95681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95681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15798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scpuno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15798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Scpuno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15798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5798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359152"/>
            <a:ext cx="13716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set1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2359152"/>
            <a:ext cx="27432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Set1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359152"/>
            <a:ext cx="18288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CONTROL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359152"/>
            <a:ext cx="9144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56032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setbi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256032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Setbi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256032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BITFIELD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56032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761488"/>
            <a:ext cx="13716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sete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2761488"/>
            <a:ext cx="27432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Sete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761488"/>
            <a:ext cx="18288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CONTROL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761488"/>
            <a:ext cx="9144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962656"/>
            <a:ext cx="13716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setk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2962656"/>
            <a:ext cx="27432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Setk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962656"/>
            <a:ext cx="18288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CONTROL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962656"/>
            <a:ext cx="9144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16382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sfill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16382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Sfill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16382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STRING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16382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6499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sfilln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336499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Sfilln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336499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STRING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36499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56616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sha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356616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Sha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356616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SHIFT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56616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6732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shl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376732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Shl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376732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SHIFT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76732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396849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shr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396849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Shr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396849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SHIFT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396849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16966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sin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16966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Sin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416966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16966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370832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sloca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370832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Sloca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4370832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4370832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57200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smatch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0" y="457200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Smatch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0" y="457200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STRING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457200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77316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smove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477316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Smove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477316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STRING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77316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97433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smovn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0" y="497433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Smovn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0" y="497433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STRING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97433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17550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smvtr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517550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Smvtr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0" y="517550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STRING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0" y="517550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37667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smvtu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0" y="537667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Smvtu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537667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STRING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537667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57784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smvun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0" y="557784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Smvun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0" y="557784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STRING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0800" y="557784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77900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smvwh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28800" y="577900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Smvwh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0" y="577900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STRING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577900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5980176"/>
            <a:ext cx="13716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solo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0" y="5980176"/>
            <a:ext cx="27432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Solo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0" y="5980176"/>
            <a:ext cx="18288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CONTROL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0" y="5980176"/>
            <a:ext cx="9144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618134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sqrt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0" y="618134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Sqrt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0" y="618134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618134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6382512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sregbl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28800" y="6382512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Sregbl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0" y="6382512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0" y="6382512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658368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sscan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28800" y="658368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Sscan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0" y="658368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STRING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0" y="658368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Instruction Reference (8/9)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Mnemonic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48640"/>
            <a:ext cx="27432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"/>
            <a:ext cx="18288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548640"/>
            <a:ext cx="9144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sskip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74980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Sskip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4980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sspan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95097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Sspan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95097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95097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15214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sspar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115214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Sspar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15214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5214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35331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st1:=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35331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St1Set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35331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5331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55448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st1=: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155448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St1Get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55448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75564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175564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Stz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75564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75564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956816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sub2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1956816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Sub2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956816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956816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157984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sub3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157984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Sub3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157984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157984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359152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subc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2359152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Subc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359152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359152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560320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svers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2560320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Svers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2560320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560320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76148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swap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276148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Swap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276148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76148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96265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296265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96265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96265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16382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temm1=: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16382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Temm1Get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316382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16382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6499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temm2=: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336499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Temm2Get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336499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36499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56616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test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0" y="356616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Test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356616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COMPARE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56616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67328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tha:=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3767328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ThaSet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3767328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767328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396849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tha=: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396849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ThaGet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396849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396849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169664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tos:=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169664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TosSet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4169664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4169664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37083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tos=: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37083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TosGet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437083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MOVE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437083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572000"/>
            <a:ext cx="13716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tset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0" y="4572000"/>
            <a:ext cx="27432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Tset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0" y="4572000"/>
            <a:ext cx="18288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CONTROL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4572000"/>
            <a:ext cx="914400" cy="201168"/>
          </a:xfrm>
          <a:prstGeom prst="rect">
            <a:avLst/>
          </a:prstGeom>
          <a:solidFill>
            <a:srgbClr val="FFC8E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773168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tutti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0" y="4773168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Tutti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4773168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4773168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974336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udiv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0" y="4974336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Udiv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0" y="4974336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974336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175504"/>
            <a:ext cx="13716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umul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5175504"/>
            <a:ext cx="27432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Umul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0" y="5175504"/>
            <a:ext cx="18288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ARITHMETIC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00800" y="5175504"/>
            <a:ext cx="914400" cy="201168"/>
          </a:xfrm>
          <a:prstGeom prst="rect">
            <a:avLst/>
          </a:prstGeom>
          <a:solidFill>
            <a:srgbClr val="C8DC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376672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wconr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0" y="5376672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Wconr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5376672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5376672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5577840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wconv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0" y="5577840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Wconv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0" y="5577840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0800" y="5577840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779008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wdus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28800" y="5779008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Wdus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2000" y="5779008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5779008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5980176"/>
            <a:ext cx="13716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wpconv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0" y="5980176"/>
            <a:ext cx="27432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Wpconv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0" y="5980176"/>
            <a:ext cx="18288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FLOAT_MATH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0" y="5980176"/>
            <a:ext cx="914400" cy="201168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4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7200" y="6181344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wphs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0" y="6181344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Wphs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0" y="6181344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6181344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6382512"/>
            <a:ext cx="13716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xor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28800" y="6382512"/>
            <a:ext cx="27432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Xor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0" y="6382512"/>
            <a:ext cx="18288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LOGICAL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0" y="6382512"/>
            <a:ext cx="914400" cy="201168"/>
          </a:xfrm>
          <a:prstGeom prst="rect">
            <a:avLst/>
          </a:prstGeom>
          <a:solidFill>
            <a:srgbClr val="FFE6C8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6583680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zpgu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828800" y="6583680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Zpgu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0" y="6583680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0" y="6583680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B4"/>
                </a:solidFill>
              </a:defRPr>
            </a:pPr>
            <a:r>
              <a:t>Instruction Reference (9/9)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Mnemonic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548640"/>
            <a:ext cx="27432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48640"/>
            <a:ext cx="18288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548640"/>
            <a:ext cx="914400" cy="201168"/>
          </a:xfrm>
          <a:prstGeom prst="rect">
            <a:avLst/>
          </a:prstGeom>
          <a:solidFill>
            <a:srgbClr val="00508C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3716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zwip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749808"/>
            <a:ext cx="27432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Zwip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749808"/>
            <a:ext cx="18288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49808"/>
            <a:ext cx="914400" cy="201168"/>
          </a:xfrm>
          <a:prstGeom prst="rect">
            <a:avLst/>
          </a:prstGeom>
          <a:solidFill>
            <a:srgbClr val="C8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/>
            </a:pPr>
            <a: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