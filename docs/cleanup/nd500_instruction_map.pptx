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4B4"/>
                </a:solidFill>
              </a:defRPr>
            </a:pPr>
            <a:r>
              <a:t>ND-500 CPU Instruction Set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Norsk Data ND-500 16-bit Opcode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241 unique instructions  |  1048 opcode variants  |  5 opcode ranges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Opcode Range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rPr>
                <a:solidFill>
                  <a:srgbClr val="111111"/>
                </a:solidFill>
              </a:rPr>
              <a:t>0x00xx</a:t>
            </a:r>
          </a:p>
          <a:p>
            <a:pPr algn="ctr">
              <a:defRPr sz="1400"/>
            </a:pPr>
            <a:r>
              <a:rPr>
                <a:solidFill>
                  <a:srgbClr val="111111"/>
                </a:solidFill>
              </a:rPr>
              <a:t>Base Instructions</a:t>
            </a:r>
          </a:p>
          <a:p>
            <a:pPr algn="ctr">
              <a:defRPr sz="1600" b="1"/>
            </a:pPr>
            <a:r>
              <a:rPr>
                <a:solidFill>
                  <a:srgbClr val="111111"/>
                </a:solidFill>
              </a:rPr>
              <a:t>227 opcodes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10312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rPr>
                <a:solidFill>
                  <a:srgbClr val="111111"/>
                </a:solidFill>
              </a:rPr>
              <a:t>0xFCxx</a:t>
            </a:r>
          </a:p>
          <a:p>
            <a:pPr algn="ctr">
              <a:defRPr sz="1400"/>
            </a:pPr>
            <a:r>
              <a:rPr>
                <a:solidFill>
                  <a:srgbClr val="111111"/>
                </a:solidFill>
              </a:rPr>
              <a:t>Extended Set 1</a:t>
            </a:r>
          </a:p>
          <a:p>
            <a:pPr algn="ctr">
              <a:defRPr sz="1600" b="1"/>
            </a:pPr>
            <a:r>
              <a:rPr>
                <a:solidFill>
                  <a:srgbClr val="111111"/>
                </a:solidFill>
              </a:rPr>
              <a:t>252 opcodes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103120" cy="1828800"/>
          </a:xfrm>
          <a:prstGeom prst="roundRect">
            <a:avLst/>
          </a:prstGeom>
          <a:solidFill>
            <a:srgbClr val="FFF3E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rPr>
                <a:solidFill>
                  <a:srgbClr val="111111"/>
                </a:solidFill>
              </a:rPr>
              <a:t>0xFDxx</a:t>
            </a:r>
          </a:p>
          <a:p>
            <a:pPr algn="ctr">
              <a:defRPr sz="1400"/>
            </a:pPr>
            <a:r>
              <a:rPr>
                <a:solidFill>
                  <a:srgbClr val="111111"/>
                </a:solidFill>
              </a:rPr>
              <a:t>Extended Set 2</a:t>
            </a:r>
          </a:p>
          <a:p>
            <a:pPr algn="ctr">
              <a:defRPr sz="1600" b="1"/>
            </a:pPr>
            <a:r>
              <a:rPr>
                <a:solidFill>
                  <a:srgbClr val="111111"/>
                </a:solidFill>
              </a:rPr>
              <a:t>250 opcodes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2103120" cy="1828800"/>
          </a:xfrm>
          <a:prstGeom prst="roundRect">
            <a:avLst/>
          </a:prstGeom>
          <a:solidFill>
            <a:srgbClr val="E0F2F1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rPr>
                <a:solidFill>
                  <a:srgbClr val="111111"/>
                </a:solidFill>
              </a:rPr>
              <a:t>0xFExx</a:t>
            </a:r>
          </a:p>
          <a:p>
            <a:pPr algn="ctr">
              <a:defRPr sz="1400"/>
            </a:pPr>
            <a:r>
              <a:rPr>
                <a:solidFill>
                  <a:srgbClr val="111111"/>
                </a:solidFill>
              </a:rPr>
              <a:t>Extended Set 3</a:t>
            </a:r>
          </a:p>
          <a:p>
            <a:pPr algn="ctr">
              <a:defRPr sz="1600" b="1"/>
            </a:pPr>
            <a:r>
              <a:rPr>
                <a:solidFill>
                  <a:srgbClr val="111111"/>
                </a:solidFill>
              </a:rPr>
              <a:t>188 opcodes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E0F7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rPr>
                <a:solidFill>
                  <a:srgbClr val="111111"/>
                </a:solidFill>
              </a:rPr>
              <a:t>0xFFxx</a:t>
            </a:r>
          </a:p>
          <a:p>
            <a:pPr algn="ctr">
              <a:defRPr sz="1400"/>
            </a:pPr>
            <a:r>
              <a:rPr>
                <a:solidFill>
                  <a:srgbClr val="111111"/>
                </a:solidFill>
              </a:rPr>
              <a:t>Extended Set 4</a:t>
            </a:r>
          </a:p>
          <a:p>
            <a:pPr algn="ctr">
              <a:defRPr sz="1600" b="1"/>
            </a:pPr>
            <a:r>
              <a:rPr>
                <a:solidFill>
                  <a:srgbClr val="111111"/>
                </a:solidFill>
              </a:rPr>
              <a:t>131 opcodes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Category Legend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E3F2F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ARITHMETIC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097280"/>
            <a:ext cx="365760" cy="365760"/>
          </a:xfrm>
          <a:prstGeom prst="rect">
            <a:avLst/>
          </a:prstGeom>
          <a:solidFill>
            <a:srgbClr val="FFF3E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365760" cy="365760"/>
          </a:xfrm>
          <a:prstGeom prst="rect">
            <a:avLst/>
          </a:prstGeom>
          <a:solidFill>
            <a:srgbClr val="E8F5E9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097280"/>
            <a:ext cx="365760" cy="365760"/>
          </a:xfrm>
          <a:prstGeom prst="rect">
            <a:avLst/>
          </a:prstGeom>
          <a:solidFill>
            <a:srgbClr val="E8EAF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E0F2F1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365760" cy="365760"/>
          </a:xfrm>
          <a:prstGeom prst="rect">
            <a:avLst/>
          </a:prstGeom>
          <a:solidFill>
            <a:srgbClr val="ECEFF1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solidFill>
            <a:srgbClr val="FFF3E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LOGICAL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365760" cy="365760"/>
          </a:xfrm>
          <a:prstGeom prst="rect">
            <a:avLst/>
          </a:prstGeom>
          <a:solidFill>
            <a:srgbClr val="FFF8E1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FCE4EC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560320"/>
            <a:ext cx="365760" cy="365760"/>
          </a:xfrm>
          <a:prstGeom prst="rect">
            <a:avLst/>
          </a:prstGeom>
          <a:solidFill>
            <a:srgbClr val="F3E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365760" cy="365760"/>
          </a:xfrm>
          <a:prstGeom prst="rect">
            <a:avLst/>
          </a:prstGeom>
          <a:solidFill>
            <a:srgbClr val="E0F7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0x00xx - Base Instructions — 227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ifkret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jumpg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callg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jumps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entsn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call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if-kgo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if-kgo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if&gt;&gt;=g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if&gt;&gt;=g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if&lt;&lt;=g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if&lt;&lt;=g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init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entfn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entm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0xFCxx - Extended Set 1 — 252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ifstgo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if-stg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0xFDxx - Extended Set 2 — 250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clte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tset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ifstgo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E8F5E9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if-stg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mte2=: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smvwh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smvun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smvtr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smvtu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scotr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sskip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sloca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sloca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sscan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sspan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smatch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sspar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schpar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freeb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cad:=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ote1:=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ote2:=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tos:=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scopa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scopt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st1=: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tos=: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tha:=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tha=: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0xFExx - Extended Set 3 — 188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solo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tutti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E0F2F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clrk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retbk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ddirt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a3:=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a4:=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e3:=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e4:=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a3=: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a4=: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e3=: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e4=: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temm1=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temm2=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ced=: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cad=: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byconr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hconr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riom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fconr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psubr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pshift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zpgu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pmpyr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ppackr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zwip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padd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psub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pshift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pmpy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pupack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0xFFxx - Extended Set 4 — 131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E3F2FD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FF3E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pcc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dmon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pmon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dmof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pmof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pctsb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dctsb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ps:=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wphs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rphs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lregbl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sregbl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lcntxt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scntxt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E0F7FA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svers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rPr>
                <a:solidFill>
                  <a:srgbClr val="111111"/>
                </a:solidFill>
              </a:rPr>
              <a:t>scpuno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rPr>
                <a:solidFill>
                  <a:srgbClr val="111111"/>
                </a:solidFill>
              </a:rP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(1/9)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Multiply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:=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=: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AssignFrom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a1:=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A1Set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a1=: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A1Get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a2:=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A2Set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a2=: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A2Get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a3:=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A3Set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a3=: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A3Get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a4:=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A4Set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a4=: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A4Get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abs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Abs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acos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Addc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Alog2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and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And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atan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Atan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atan2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Atan2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axi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Axi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AssignBaseRegTo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b=: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AssignToBaseReg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Biconv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(2/9)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bladdr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Bladdr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byconr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Byconr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byconv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Byconv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cad:=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CadSet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cad=: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CadGet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ced=: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CedGet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chain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Chain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cind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Cind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clebi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Clebi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clrk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Clte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cpgu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Cpgu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cte1=: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Cte1Get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cte2=: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Cte2Get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cwip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Cwip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dconv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Dconv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dctsb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Dctsb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ddirt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Ddirt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decr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Decr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(3/9)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div4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Div4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dmof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Dmof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Dmon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e1:=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E1Set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e1=: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E1Get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e2:=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E2Set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e2=: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E2Get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e3:=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E3Set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e3=: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E3Get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e4:=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E4Set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e4=: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E4Get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entfn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Entfn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entsn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Entsn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Entt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exp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Exp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fconr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Fconr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fconv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Fconv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freeb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Freeb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getbf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Getbf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Getbi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Go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hconv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Hconv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hl:=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HlSet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(4/9)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hl=: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HlGet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if-kgo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IfKeyGo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if-stgo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IfStackGo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if&lt;&lt;=go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IfUnsignedLessEqualGo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if&lt;&lt;go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IfUnsignedLessGo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if&lt;=go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IfLessEqualGo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if&lt;go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IfLessThanGo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if=go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IfEqualGo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if&gt;&lt;go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IfNotEqualGo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if&gt;=go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IfGreaterEqualGo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if&gt;&gt;=go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IfUnsignedGreaterEqualGo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if&gt;&gt;go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IfUnsignedGreaterGo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if&gt;go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IfGreaterThanGo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ifkgo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Ifkgo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ifkret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Ifkret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ifstgo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Ifstgo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incr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Incr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init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intr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Intr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invc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Invc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ixi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Ixi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jumpg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Jumpg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jumps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Jumps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l:=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LSet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l=: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LGet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lcntxt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Lcntxt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lind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Lind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(5/9)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ll:=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LlSet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ll=: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LlGet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Loopi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lregbl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Lregbl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mte1=: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Mte1Get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mte2=: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Mte2Get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Mulad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neg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Neg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noop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Noop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ote1:=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Ote1Set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ote1=: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Ote1Get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ote2:=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Ote2Set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ote2=: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Ote2Get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padd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Padd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paddr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Paddr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pcomp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Pcomp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pctsb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Pctsb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phyladr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Phyladr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pmof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Pmof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pmpy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Pmpy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(6/9)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pmpyr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Pmpyr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poly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Poly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ppack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Ppack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ppackr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Ppackr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ps:=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ps=: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pshift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Pshift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pshiftr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Pshiftr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psubr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Psubr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Psum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pupack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Pupack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pupackr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Pupackr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putbf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Putbf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putbi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Putbi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pwconv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Pwconv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r:=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AssignRecordRegTo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r=: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AssignToRecordReg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rdus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Rdus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retbk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Retbk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Rett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riom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Riom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rpgu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Rpgu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rphs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Rphs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(7/9)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rwip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Rwip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schpar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Schpar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scntxt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Scntxt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scotr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Scotr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scpuno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Scpuno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Setbi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Setk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sfill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Sfill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sfilln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Sfilln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sloca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Sloca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smatch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Smatch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smove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Smove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smovn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Smovn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smvtr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Smvtr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smvtu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Smvtu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smvun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Smvun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smvwh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Smvwh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Solo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sqrt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Sqrt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sregbl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Sregbl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sscan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Sscan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(8/9)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sskip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Sskip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sspan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Sspan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sspar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Sspar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st1:=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St1Set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st1=: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St1Get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Stz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Subc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svers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Svers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swap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Swap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temm1=: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Temm1Get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temm2=: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Temm2Get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tha:=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ThaSet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tha=: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ThaGet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tos:=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TosSet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tos=: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TosGet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tset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Tset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tutti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Tutti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udiv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Udiv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umul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Umul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wconr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Wconr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wconv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Wconv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wdus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Wdus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wpconv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Wpconv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wphs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Wphs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xor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Xor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zpgu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Zpgu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(9/9)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zwip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Zwip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