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4B4"/>
                </a:solidFill>
              </a:defRPr>
            </a:pPr>
            <a:r>
              <a:t>ND-500 Instruction Operand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Data Types, Addressing Modes, and Operand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241 instructions  |  7 data type prefixes  |  6 addressing modes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Data Type Prefixes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14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Bit — Single bit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Byte — 8-bit integer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774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Halfword — 16-bit integer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0896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1089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Word — 32-bit integer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4048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Float — 32-bit IEEE 754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Double — 64-bit IEEE 754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303520"/>
            <a:ext cx="914400" cy="548640"/>
          </a:xfrm>
          <a:prstGeom prst="roundRect">
            <a:avLst/>
          </a:prstGeom>
          <a:solidFill>
            <a:srgbClr val="2A5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AAFFAA"/>
                </a:solidFill>
              </a:defRPr>
            </a:pPr>
            <a:r>
              <a:t>R_N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303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Real N — Extended precision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Addressing Modes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914400" cy="548640"/>
          </a:xfrm>
          <a:prstGeom prst="roundRect">
            <a:avLst/>
          </a:prstGeom>
          <a:solidFill>
            <a:srgbClr val="5A3A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8AA"/>
                </a:solidFill>
              </a:defRPr>
            </a:pPr>
            <a:r>
              <a:t>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14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CONSTANT — Immediate value in instruction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914400" cy="548640"/>
          </a:xfrm>
          <a:prstGeom prst="roundRect">
            <a:avLst/>
          </a:prstGeom>
          <a:solidFill>
            <a:srgbClr val="5A3A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8AA"/>
                </a:solidFill>
              </a:defRPr>
            </a:pPr>
            <a:r>
              <a:t>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737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LOCAL — Stack-relative via B register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914400" cy="548640"/>
          </a:xfrm>
          <a:prstGeom prst="roundRect">
            <a:avLst/>
          </a:prstGeom>
          <a:solidFill>
            <a:srgbClr val="5A3A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8AA"/>
                </a:solidFill>
              </a:defRPr>
            </a:pPr>
            <a:r>
              <a:t>REC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RECORD — Record-relative via R register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914400" cy="548640"/>
          </a:xfrm>
          <a:prstGeom prst="roundRect">
            <a:avLst/>
          </a:prstGeom>
          <a:solidFill>
            <a:srgbClr val="5A3A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8AA"/>
                </a:solidFill>
              </a:defRPr>
            </a:pPr>
            <a:r>
              <a:t>REG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383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REGISTER — CPU register direct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06240"/>
            <a:ext cx="914400" cy="548640"/>
          </a:xfrm>
          <a:prstGeom prst="roundRect">
            <a:avLst/>
          </a:prstGeom>
          <a:solidFill>
            <a:srgbClr val="5A3A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8AA"/>
                </a:solidFill>
              </a:defRPr>
            </a:pPr>
            <a:r>
              <a:t>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206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ABSOLUTE — Direct memory address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029200"/>
            <a:ext cx="914400" cy="548640"/>
          </a:xfrm>
          <a:prstGeom prst="roundRect">
            <a:avLst/>
          </a:prstGeom>
          <a:solidFill>
            <a:srgbClr val="5A3A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8AA"/>
                </a:solidFill>
              </a:defRPr>
            </a:pPr>
            <a:r>
              <a:t>PRE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PRE_INDEXED — Base + index addressing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Instructions by Category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657600" cy="502920"/>
          </a:xfrm>
          <a:prstGeom prst="roundRect">
            <a:avLst/>
          </a:prstGeom>
          <a:solidFill>
            <a:srgbClr val="E8F5E9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rgbClr val="111111"/>
                </a:solidFill>
              </a:rPr>
              <a:t>MOVE: 56 instructions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914400"/>
            <a:ext cx="3657600" cy="502920"/>
          </a:xfrm>
          <a:prstGeom prst="roundRect">
            <a:avLst/>
          </a:prstGeom>
          <a:solidFill>
            <a:srgbClr val="E3F2F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rgbClr val="111111"/>
                </a:solidFill>
              </a:rPr>
              <a:t>ARITHMETIC: 37 instructions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657600" cy="502920"/>
          </a:xfrm>
          <a:prstGeom prst="roundRect">
            <a:avLst/>
          </a:prstGeom>
          <a:solidFill>
            <a:srgbClr val="E0F7F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rgbClr val="111111"/>
                </a:solidFill>
              </a:rPr>
              <a:t>SYSTEM: 35 instructions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FLOAT_MATH: 25 instructions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657600" cy="502920"/>
          </a:xfrm>
          <a:prstGeom prst="roundRect">
            <a:avLst/>
          </a:prstGeom>
          <a:solidFill>
            <a:srgbClr val="E8F5E9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rgbClr val="111111"/>
                </a:solidFill>
              </a:rPr>
              <a:t>BRANCH: 20 instructions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554480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CALL: 18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STRING: 18 instructions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3657600" cy="502920"/>
          </a:xfrm>
          <a:prstGeom prst="roundRect">
            <a:avLst/>
          </a:prstGeom>
          <a:solidFill>
            <a:srgbClr val="E0F2F1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rgbClr val="111111"/>
                </a:solidFill>
              </a:rPr>
              <a:t>CONTROL: 9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194560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BITFIELD: 7 instructions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39"/>
            <a:ext cx="3657600" cy="502920"/>
          </a:xfrm>
          <a:prstGeom prst="roundRect">
            <a:avLst/>
          </a:prstGeom>
          <a:solidFill>
            <a:srgbClr val="FFF3E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>
                <a:solidFill>
                  <a:srgbClr val="111111"/>
                </a:solidFill>
              </a:rPr>
              <a:t>LOGICAL: 5 instructions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834639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COMPARE: 5 instructions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834639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SHIFT: 5 instructions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3657600" cy="50292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IO: 1 instructions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(1/14)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Multiply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R_N,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Add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R_N,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Subtract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R_N,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Divide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R_N,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:=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AssignTo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=: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AssignFrom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a1:=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A1Set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a1=: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A1Get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a2:=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A2Set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a2=: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A2Get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a3:=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A3Set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a3=: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A3Get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a4:=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A4Set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a4=: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A4Get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R_N, 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acos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Acos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add2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Add2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add3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Add3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(2/14)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addc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Addc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R_N, 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alog10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Alog10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alog2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Alog2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LOGICAL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H, R_N,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asin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Asin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Atan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atan2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Atan2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axi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Axi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b:=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AssignBaseRegTo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b=: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AssignToBaseReg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biconv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Biconv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bladdr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Bladdr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W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bmove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Bmove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byconr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Byconr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byconv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Byconv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D, F, H,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cad:=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CadSet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(3/14)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cad=: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ced=: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CedGet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chain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Chain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R_N,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cind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Cind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R_N, 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clebi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Clebi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clr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Clr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clrk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Clrk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clte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Clte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comp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Comp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COMPARE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comp2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Comp2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COMPARE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cpgu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Cpgu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cte1=: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Cte1Get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cte2=: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Cte2Get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cwip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Cwip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dcc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Dcc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(4/14)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dconv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Dconv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F, H, 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dctsb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Dctsb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ddirt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Ddirt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decr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Decr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div2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Div2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div3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Div3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div4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Div4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R_N, 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dmof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Dmof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dmon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Dmon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e1:=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E1Set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e1=: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E1Get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e2:=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E2Set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e2=: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E2Get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e3:=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E3Set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e3=: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E3Get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e4:=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E4Set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e4=: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E4Get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entb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Entb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(5/14)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entfn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Entfn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entsn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Entsn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Entt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exp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Exp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fconr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Fconr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fconv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Fconv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H, 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freeb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Freeb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getb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Getb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R_N, 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getbf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Getbf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R_N, W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getbi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Getbi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R_N, W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go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Go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hconr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Hconr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hconv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Hconv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hl:=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HlSet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(6/14)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hl=: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HlGet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if-kgo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IfKeyGo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if-stgo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IfStackGo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if&lt;&lt;=go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IfUnsignedLessEqua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if&lt;&lt;go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IfUnsignedLessGo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if&lt;=go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IfLessEqualGo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if&lt;go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IfLessThanGo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if=go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IfEqualGo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if&gt;&lt;go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IfNotEqualGo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if&gt;=go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IfGreaterEqualGo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if&gt;&gt;=go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IfUnsignedGreaterE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if&gt;&gt;go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IfUnsignedGreaterG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if&gt;go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IfGreaterThanGo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ifkgo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Ifkgo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ifkret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Ifkret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ifstgo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Ifstgo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incr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Incr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init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Init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(7/14)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intr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Intr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Inv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LOGICAL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H, R_N,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invc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Invc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LOGICAL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R_N, 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ixi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Ixi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R_N,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jumpg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Jumpg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jumps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Jumps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l:=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LSet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l=: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LGet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laddr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Laddr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lcntxt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Lcntxt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lind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Lind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R_N, 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ll:=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LlSet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ll=: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LlGet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loop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Loop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loopd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Loopd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loopi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Loopi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lregbl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Lregbl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(8/14)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mte1=: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Mte1Get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mte2=: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Mte2Get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mul2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Mul2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mul3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Mul3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mul4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Mul4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R_N, 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mulad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Mulad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R_N, 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neg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Neg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R_N, 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noop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Noop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Or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LOGICAL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H, R_N, 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ote1:=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Ote1Set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ote1=: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Ote1Get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ote2:=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Ote2Set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ote2=: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Ote2Get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p=: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PGet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padd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Padd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paddr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Paddr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pcc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Pcc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(9/14)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pcomp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Pcomp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COMPARE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pctsb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Pctsb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phyladr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Phyladr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R_N,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pmof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Pmof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pmon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Pmon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pmpy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Pmpy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pmpyr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Pmpyr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poly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Poly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ppack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Ppack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ppackr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Ppackr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ps:=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PsSet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ps=: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PsGet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pshift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Pshift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SHIFT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pshiftr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Pshiftr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SHIFT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psub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Psub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psubr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Psubr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psum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Psum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R_N, 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pupack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Pupack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(10/14)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pupackr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Pupackr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putbf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Putbf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R_N, 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putbi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Putbi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R_N,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pwconv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Pwconv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R_N, 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r:=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AssignRecordRegTo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r=: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AssignToRecordReg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rdus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Rdus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H, R_N, 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retb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Retb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retbk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Retbk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retd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Retd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retk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Retk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rett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Rett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CALL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riom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Riom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IO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H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rladdr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Rladdr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W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rpgu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Rpgu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H, R_N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rphs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Rphs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(11/14)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rwip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Rwip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H, R_N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schpar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Schpar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scntxt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Scntxt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scomp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Scomp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COMPARE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scopa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Scopa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scopt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Scopt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scotr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Scotr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scpuno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Scpuno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set1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Set1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setbi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Setbi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BITFIELD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sete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Sete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setk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Setk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sfill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Sfill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sfilln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Sfilln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sha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Sha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SHIFT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W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shl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Shl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SHIFT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W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shr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Shr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SHIFT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sin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Sin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(12/14)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sloca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Sloca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smove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smovn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Smovn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smvtr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Smvtr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smvtu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Smvtu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smvun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Smvun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smvwh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Smvwh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solo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Solo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sqrt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Sqrt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sregbl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Sregbl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sscan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Sscan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sskip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Sskip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sspan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Sspan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sspar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Sspar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STRING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st1:=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St1Set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st1=: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St1Get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stz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Stz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W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(13/14)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sub2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Sub2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sub3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Sub3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D, F, H, 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subc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Subc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R_N,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svers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Svers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swap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Swap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F, R_N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temm1=: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Temm1Get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" y="320954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temm2=: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20954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Temm2Get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320954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20954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20954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320954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20954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3547872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test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54787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Test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3547872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COMPARE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3547872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3547872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H, 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54787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40" y="3547872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3886200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tha:=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388620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ThaSet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886200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0" y="3886200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3886200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88620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8240" y="3886200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" y="4224528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tha=: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ThaGet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4224528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0" y="4224528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4224528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78240" y="4224528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440" y="4562856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tos:=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456285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TosSet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4562856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562856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4562856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35040" y="456285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562856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4901184"/>
            <a:ext cx="8229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tos=: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490118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TosGet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901184"/>
            <a:ext cx="109728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MOVE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4901184"/>
            <a:ext cx="36576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4901184"/>
            <a:ext cx="18288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490118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8240" y="4901184"/>
            <a:ext cx="2743200" cy="338328"/>
          </a:xfrm>
          <a:prstGeom prst="rect">
            <a:avLst/>
          </a:prstGeom>
          <a:solidFill>
            <a:srgbClr val="E8F5E9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" y="5239512"/>
            <a:ext cx="8229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tset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0" y="5239512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Tset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0" y="5239512"/>
            <a:ext cx="109728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5239512"/>
            <a:ext cx="36576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0" y="5239512"/>
            <a:ext cx="18288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5040" y="5239512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78240" y="5239512"/>
            <a:ext cx="2743200" cy="338328"/>
          </a:xfrm>
          <a:prstGeom prst="rect">
            <a:avLst/>
          </a:prstGeom>
          <a:solidFill>
            <a:srgbClr val="E0F2F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" y="5577840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tutti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4400" y="5577840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Tutti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577840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40480" y="5577840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06240" y="5577840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35040" y="5577840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78240" y="5577840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1440" y="5916168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udiv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1616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Udiv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0" y="5916168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0" y="5916168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5916168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R_N, W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591616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5916168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" y="6254496"/>
            <a:ext cx="8229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umul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14400" y="625449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Umul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0" y="6254496"/>
            <a:ext cx="109728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ARITHMETIC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840480" y="6254496"/>
            <a:ext cx="36576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6254496"/>
            <a:ext cx="18288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R_N, W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625449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40" y="6254496"/>
            <a:ext cx="2743200" cy="338328"/>
          </a:xfrm>
          <a:prstGeom prst="rect">
            <a:avLst/>
          </a:prstGeom>
          <a:solidFill>
            <a:srgbClr val="E3F2FD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" y="659282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wconr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659282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Wconr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0" y="659282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0" y="659282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06240" y="659282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D, F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035040" y="659282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778240" y="659282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B4"/>
                </a:solidFill>
              </a:defRPr>
            </a:pPr>
            <a:r>
              <a:t>Operand Support (14/14)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02920"/>
            <a:ext cx="8229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109728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502920"/>
            <a:ext cx="36576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502920"/>
            <a:ext cx="18288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Prefixes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Op1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502920"/>
            <a:ext cx="2743200" cy="33832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Op2 Modes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841248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wconv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84124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Wconv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841248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841248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841248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D, F,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4124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841248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LOC, PRE, REC, 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179576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wdus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17957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Wdus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179576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1179576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7957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BY, H, R_N, 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7957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17957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1517904"/>
            <a:ext cx="8229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wpconv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51790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Wpconv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517904"/>
            <a:ext cx="109728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FLOAT_MATH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517904"/>
            <a:ext cx="36576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517904"/>
            <a:ext cx="18288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R_N,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1790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517904"/>
            <a:ext cx="2743200" cy="338328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1856232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wphs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1856232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Wphs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1856232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856232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1856232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856232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1856232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194560"/>
            <a:ext cx="82296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xor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194560"/>
            <a:ext cx="18288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Xor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194560"/>
            <a:ext cx="109728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LOGICAL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194560"/>
            <a:ext cx="36576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194560"/>
            <a:ext cx="18288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BI, BY, H, R_N, 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194560"/>
            <a:ext cx="27432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194560"/>
            <a:ext cx="2743200" cy="338328"/>
          </a:xfrm>
          <a:prstGeom prst="rect">
            <a:avLst/>
          </a:prstGeom>
          <a:solidFill>
            <a:srgbClr val="FFF3E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2532888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zpgu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253288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Zpgu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532888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2532888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53288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2532888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" y="2871216"/>
            <a:ext cx="8229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zwip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87121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Zwip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2871216"/>
            <a:ext cx="109728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2871216"/>
            <a:ext cx="36576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rPr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2871216"/>
            <a:ext cx="18288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BI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287121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ABS, CON, LOC, PRE, REC, REG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78240" y="2871216"/>
            <a:ext cx="2743200" cy="338328"/>
          </a:xfrm>
          <a:prstGeom prst="rect">
            <a:avLst/>
          </a:prstGeom>
          <a:solidFill>
            <a:srgbClr val="E0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/>
            </a:pPr>
            <a:r>
              <a:rPr>
                <a:solidFill>
                  <a:srgbClr val="111111"/>
                </a:solidFill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